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Martel Sans" charset="1" panose="00000500000000000000"/>
      <p:regular r:id="rId20"/>
    </p:embeddedFont>
    <p:embeddedFont>
      <p:font typeface="Martel Sans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0.jpe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782366"/>
            <a:ext cx="944552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TravelPlanner Pro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3074489"/>
            <a:ext cx="9445523" cy="374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9"/>
              </a:lnSpc>
            </a:pPr>
            <a:r>
              <a:rPr lang="en-US" sz="770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AI-Powered Intelligent Travel Planning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7158485"/>
            <a:ext cx="10359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Powered by </a:t>
            </a:r>
            <a:r>
              <a:rPr lang="en-US" sz="2200" b="true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IBM watsonx.ai</a:t>
            </a: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(Granite Model) &amp; Flask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0238" y="8016773"/>
            <a:ext cx="3473053" cy="430711"/>
            <a:chOff x="0" y="0"/>
            <a:chExt cx="4630738" cy="5742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30674" cy="574294"/>
            </a:xfrm>
            <a:custGeom>
              <a:avLst/>
              <a:gdLst/>
              <a:ahLst/>
              <a:cxnLst/>
              <a:rect r="r" b="b" t="t" l="l"/>
              <a:pathLst>
                <a:path h="574294" w="463067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503674" y="0"/>
                  </a:lnTo>
                  <a:cubicBezTo>
                    <a:pt x="4573778" y="0"/>
                    <a:pt x="4630674" y="56896"/>
                    <a:pt x="4630674" y="127000"/>
                  </a:cubicBezTo>
                  <a:lnTo>
                    <a:pt x="4630674" y="447294"/>
                  </a:lnTo>
                  <a:cubicBezTo>
                    <a:pt x="4630674" y="517398"/>
                    <a:pt x="4573778" y="574294"/>
                    <a:pt x="4503674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DFECE9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020345" y="8111280"/>
            <a:ext cx="4047230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PRESENTED BY VARUN RAJ 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900390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The Problem with Modern Travel Planning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068966"/>
            <a:ext cx="944552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Planning a trip today means juggling dozens of websites — transportation, hotels, attractions, food, safety guidelines, and budgets — all scattered across the web. The result? A </a:t>
            </a:r>
            <a:r>
              <a:rPr lang="en-US" sz="2200" b="true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time-consuming, fragmented, and often confusing</a:t>
            </a: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experience.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6288138"/>
            <a:ext cx="9445523" cy="2041179"/>
            <a:chOff x="0" y="0"/>
            <a:chExt cx="12594031" cy="2721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93955" cy="2721483"/>
            </a:xfrm>
            <a:custGeom>
              <a:avLst/>
              <a:gdLst/>
              <a:ahLst/>
              <a:cxnLst/>
              <a:rect r="r" b="b" t="t" l="l"/>
              <a:pathLst>
                <a:path h="2721483" w="12593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2435205" y="0"/>
                  </a:lnTo>
                  <a:cubicBezTo>
                    <a:pt x="12522836" y="0"/>
                    <a:pt x="12593955" y="71120"/>
                    <a:pt x="12593955" y="158750"/>
                  </a:cubicBezTo>
                  <a:lnTo>
                    <a:pt x="12593955" y="2562733"/>
                  </a:lnTo>
                  <a:cubicBezTo>
                    <a:pt x="12593955" y="2650363"/>
                    <a:pt x="12522836" y="2721483"/>
                    <a:pt x="12435205" y="2721483"/>
                  </a:cubicBezTo>
                  <a:lnTo>
                    <a:pt x="158750" y="2721483"/>
                  </a:lnTo>
                  <a:cubicBezTo>
                    <a:pt x="71120" y="2721483"/>
                    <a:pt x="0" y="2650363"/>
                    <a:pt x="0" y="2562733"/>
                  </a:cubicBezTo>
                  <a:close/>
                </a:path>
              </a:pathLst>
            </a:custGeom>
            <a:solidFill>
              <a:srgbClr val="DFECE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75750" y="6689674"/>
            <a:ext cx="354359" cy="283521"/>
            <a:chOff x="0" y="0"/>
            <a:chExt cx="472478" cy="37802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2" t="0" r="-680" b="1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913630" y="6556772"/>
            <a:ext cx="8240611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000000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Our Objective:</a:t>
            </a:r>
            <a:r>
              <a:rPr lang="en-US" sz="2200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 Build an AI-powered travel assistant that generates a complete, personalized travel plan in one place — powered by IBM watsonx.ai.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81498"/>
            <a:ext cx="16303523" cy="83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90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Project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010813"/>
            <a:ext cx="17217923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TravelPlanner Pro is designed to simplify every stage of travel planning through intelligent automation.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2702871"/>
            <a:ext cx="504977" cy="504977"/>
          </a:xfrm>
          <a:custGeom>
            <a:avLst/>
            <a:gdLst/>
            <a:ahLst/>
            <a:cxnLst/>
            <a:rect r="r" b="b" t="t" l="l"/>
            <a:pathLst>
              <a:path h="504977" w="504977">
                <a:moveTo>
                  <a:pt x="0" y="0"/>
                </a:moveTo>
                <a:lnTo>
                  <a:pt x="504978" y="0"/>
                </a:lnTo>
                <a:lnTo>
                  <a:pt x="504978" y="504978"/>
                </a:lnTo>
                <a:lnTo>
                  <a:pt x="0" y="504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852" r="0" b="-185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2238" y="3469777"/>
            <a:ext cx="8011268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Personalized Itineraries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961057"/>
            <a:ext cx="8011268" cy="82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Generate day-by-day travel plans tailored to user preferences and destinations.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284494" y="2702871"/>
            <a:ext cx="504977" cy="504977"/>
          </a:xfrm>
          <a:custGeom>
            <a:avLst/>
            <a:gdLst/>
            <a:ahLst/>
            <a:cxnLst/>
            <a:rect r="r" b="b" t="t" l="l"/>
            <a:pathLst>
              <a:path h="504977" w="504977">
                <a:moveTo>
                  <a:pt x="0" y="0"/>
                </a:moveTo>
                <a:lnTo>
                  <a:pt x="504977" y="0"/>
                </a:lnTo>
                <a:lnTo>
                  <a:pt x="504977" y="504978"/>
                </a:lnTo>
                <a:lnTo>
                  <a:pt x="0" y="5049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333" t="0" r="-833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284494" y="3469777"/>
            <a:ext cx="8011268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Transport &amp; Accommodation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84494" y="3961057"/>
            <a:ext cx="8011268" cy="82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Recommend optimal transport modes and lodging options based on budget.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5231759"/>
            <a:ext cx="504977" cy="504977"/>
          </a:xfrm>
          <a:custGeom>
            <a:avLst/>
            <a:gdLst/>
            <a:ahLst/>
            <a:cxnLst/>
            <a:rect r="r" b="b" t="t" l="l"/>
            <a:pathLst>
              <a:path h="504977" w="504977">
                <a:moveTo>
                  <a:pt x="0" y="0"/>
                </a:moveTo>
                <a:lnTo>
                  <a:pt x="504978" y="0"/>
                </a:lnTo>
                <a:lnTo>
                  <a:pt x="504978" y="504977"/>
                </a:lnTo>
                <a:lnTo>
                  <a:pt x="0" y="5049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0185" r="0" b="-1018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2238" y="5998664"/>
            <a:ext cx="8011268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Budget Estimation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6489944"/>
            <a:ext cx="8011268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Provide accurate, itemized cost breakdowns for the entire trip.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284494" y="5231759"/>
            <a:ext cx="504977" cy="504977"/>
          </a:xfrm>
          <a:custGeom>
            <a:avLst/>
            <a:gdLst/>
            <a:ahLst/>
            <a:cxnLst/>
            <a:rect r="r" b="b" t="t" l="l"/>
            <a:pathLst>
              <a:path h="504977" w="504977">
                <a:moveTo>
                  <a:pt x="0" y="0"/>
                </a:moveTo>
                <a:lnTo>
                  <a:pt x="504977" y="0"/>
                </a:lnTo>
                <a:lnTo>
                  <a:pt x="504977" y="504977"/>
                </a:lnTo>
                <a:lnTo>
                  <a:pt x="0" y="5049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284494" y="5998664"/>
            <a:ext cx="8011268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Food &amp; Culture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84494" y="6489944"/>
            <a:ext cx="8011268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Suggest local cuisine, cultural etiquette, and money-saving tips.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92238" y="7378751"/>
            <a:ext cx="504977" cy="504977"/>
          </a:xfrm>
          <a:custGeom>
            <a:avLst/>
            <a:gdLst/>
            <a:ahLst/>
            <a:cxnLst/>
            <a:rect r="r" b="b" t="t" l="l"/>
            <a:pathLst>
              <a:path h="504977" w="504977">
                <a:moveTo>
                  <a:pt x="0" y="0"/>
                </a:moveTo>
                <a:lnTo>
                  <a:pt x="504978" y="0"/>
                </a:lnTo>
                <a:lnTo>
                  <a:pt x="504978" y="504977"/>
                </a:lnTo>
                <a:lnTo>
                  <a:pt x="0" y="5049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9259" r="0" b="-9257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92238" y="8145656"/>
            <a:ext cx="8011268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Safety &amp; Emergency Info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8636946"/>
            <a:ext cx="8011268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Deliver real-time safety guidelines and emergency contact details.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284494" y="7378751"/>
            <a:ext cx="504977" cy="504977"/>
          </a:xfrm>
          <a:custGeom>
            <a:avLst/>
            <a:gdLst/>
            <a:ahLst/>
            <a:cxnLst/>
            <a:rect r="r" b="b" t="t" l="l"/>
            <a:pathLst>
              <a:path h="504977" w="504977">
                <a:moveTo>
                  <a:pt x="0" y="0"/>
                </a:moveTo>
                <a:lnTo>
                  <a:pt x="504977" y="0"/>
                </a:lnTo>
                <a:lnTo>
                  <a:pt x="504977" y="504977"/>
                </a:lnTo>
                <a:lnTo>
                  <a:pt x="0" y="5049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284494" y="8145656"/>
            <a:ext cx="8011268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Generative AI Experience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84494" y="8636946"/>
            <a:ext cx="8011268" cy="82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Enhance user experience with intelligent, conversational AI support.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75249"/>
            <a:ext cx="16303523" cy="90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sz="5299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Technology Stack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821781"/>
            <a:ext cx="10366477" cy="5874248"/>
            <a:chOff x="0" y="0"/>
            <a:chExt cx="13821969" cy="783233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21918" cy="7832344"/>
            </a:xfrm>
            <a:custGeom>
              <a:avLst/>
              <a:gdLst/>
              <a:ahLst/>
              <a:cxnLst/>
              <a:rect r="r" b="b" t="t" l="l"/>
              <a:pathLst>
                <a:path h="7832344" w="13821918">
                  <a:moveTo>
                    <a:pt x="0" y="0"/>
                  </a:moveTo>
                  <a:lnTo>
                    <a:pt x="13821918" y="0"/>
                  </a:lnTo>
                  <a:lnTo>
                    <a:pt x="13821918" y="7832344"/>
                  </a:lnTo>
                  <a:lnTo>
                    <a:pt x="0" y="7832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7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27541" y="2292248"/>
            <a:ext cx="5277593" cy="45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AI &amp; Backend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27541" y="2933852"/>
            <a:ext cx="5277593" cy="320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276"/>
              </a:lnSpc>
              <a:buFont typeface="Arial"/>
              <a:buChar char="•"/>
            </a:pPr>
            <a:r>
              <a:rPr lang="en-US" b="true" sz="2100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IBM watsonx.ai</a:t>
            </a:r>
            <a:r>
              <a:rPr lang="en-US" sz="21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— Granite Large Language Model for intelligent content generation</a:t>
            </a:r>
          </a:p>
          <a:p>
            <a:pPr algn="l" marL="506730" indent="-253365" lvl="1">
              <a:lnSpc>
                <a:spcPts val="3276"/>
              </a:lnSpc>
              <a:buFont typeface="Arial"/>
              <a:buChar char="•"/>
            </a:pPr>
            <a:r>
              <a:rPr lang="en-US" b="true" sz="2100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Python Flask</a:t>
            </a:r>
            <a:r>
              <a:rPr lang="en-US" sz="21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— Lightweight, flexible web framework</a:t>
            </a:r>
          </a:p>
          <a:p>
            <a:pPr algn="l" marL="506730" indent="-253365" lvl="1">
              <a:lnSpc>
                <a:spcPts val="3276"/>
              </a:lnSpc>
              <a:buFont typeface="Arial"/>
              <a:buChar char="•"/>
            </a:pPr>
            <a:r>
              <a:rPr lang="en-US" b="true" sz="2100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SQLite</a:t>
            </a:r>
            <a:r>
              <a:rPr lang="en-US" sz="21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— Embedded database for data persistence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27541" y="6365081"/>
            <a:ext cx="5277593" cy="45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27541" y="7006676"/>
            <a:ext cx="5277593" cy="23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276"/>
              </a:lnSpc>
              <a:buFont typeface="Arial"/>
              <a:buChar char="•"/>
            </a:pPr>
            <a:r>
              <a:rPr lang="en-US" b="true" sz="2100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HTML &amp; CSS</a:t>
            </a:r>
            <a:r>
              <a:rPr lang="en-US" sz="21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— Responsive, clean UI structure</a:t>
            </a:r>
          </a:p>
          <a:p>
            <a:pPr algn="l" marL="506730" indent="-253365" lvl="1">
              <a:lnSpc>
                <a:spcPts val="3276"/>
              </a:lnSpc>
              <a:buFont typeface="Arial"/>
              <a:buChar char="•"/>
            </a:pPr>
            <a:r>
              <a:rPr lang="en-US" b="true" sz="2100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JavaScript</a:t>
            </a:r>
            <a:r>
              <a:rPr lang="en-US" sz="21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— Dynamic interactivity</a:t>
            </a:r>
          </a:p>
          <a:p>
            <a:pPr algn="l" marL="506730" indent="-253365" lvl="1">
              <a:lnSpc>
                <a:spcPts val="3276"/>
              </a:lnSpc>
              <a:buFont typeface="Arial"/>
              <a:buChar char="•"/>
            </a:pPr>
            <a:r>
              <a:rPr lang="en-US" b="true" sz="2100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Bootstrap</a:t>
            </a:r>
            <a:r>
              <a:rPr lang="en-US" sz="21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— Mobile-first responsive design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85812"/>
            <a:ext cx="1630352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System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3280" y="2295973"/>
            <a:ext cx="15781287" cy="5921873"/>
            <a:chOff x="0" y="0"/>
            <a:chExt cx="21041716" cy="789583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041740" cy="7895844"/>
            </a:xfrm>
            <a:custGeom>
              <a:avLst/>
              <a:gdLst/>
              <a:ahLst/>
              <a:cxnLst/>
              <a:rect r="r" b="b" t="t" l="l"/>
              <a:pathLst>
                <a:path h="7895844" w="21041740">
                  <a:moveTo>
                    <a:pt x="0" y="0"/>
                  </a:moveTo>
                  <a:lnTo>
                    <a:pt x="21041740" y="0"/>
                  </a:lnTo>
                  <a:lnTo>
                    <a:pt x="21041740" y="7895844"/>
                  </a:lnTo>
                  <a:lnTo>
                    <a:pt x="0" y="7895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004417" y="6751682"/>
            <a:ext cx="238029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Dashboard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04594" y="6751682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Travel Plan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21079" y="6751682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Granite Model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37563" y="6751682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Flask App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8830" y="6751682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User Input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8451056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The architecture follows a clean, linear pipeline — user inputs are validated by Flask, processed by IBM's Granite LLM, and returned as a structured, interactive travel report.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96781"/>
            <a:ext cx="1630352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Application 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106941"/>
            <a:ext cx="567033" cy="354359"/>
            <a:chOff x="0" y="0"/>
            <a:chExt cx="756044" cy="4724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2238" y="3550739"/>
            <a:ext cx="5245446" cy="38100"/>
            <a:chOff x="0" y="0"/>
            <a:chExt cx="6993928" cy="5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3740048"/>
            <a:ext cx="5245446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User Enters Trip Details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4295927"/>
            <a:ext cx="5245446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Destination, dates, budget, and preferences are submitted via the form.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1206" y="3106941"/>
            <a:ext cx="567033" cy="354359"/>
            <a:chOff x="0" y="0"/>
            <a:chExt cx="756044" cy="4724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21206" y="3550739"/>
            <a:ext cx="5245446" cy="38100"/>
            <a:chOff x="0" y="0"/>
            <a:chExt cx="6993928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521206" y="3740048"/>
            <a:ext cx="5245446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Flask Validates Inputs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21206" y="4295927"/>
            <a:ext cx="524544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Backend performs validation and sanitization before processing.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50163" y="3106941"/>
            <a:ext cx="567033" cy="354359"/>
            <a:chOff x="0" y="0"/>
            <a:chExt cx="756044" cy="4724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50163" y="3550739"/>
            <a:ext cx="5245446" cy="38100"/>
            <a:chOff x="0" y="0"/>
            <a:chExt cx="6993928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050163" y="3740048"/>
            <a:ext cx="5245446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Prompt Sent to IBM watsonx.ai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50163" y="4295927"/>
            <a:ext cx="524544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 structured prompt is dispatched to the Granite model API.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92238" y="6238580"/>
            <a:ext cx="567033" cy="354359"/>
            <a:chOff x="0" y="0"/>
            <a:chExt cx="756044" cy="4724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92238" y="6682378"/>
            <a:ext cx="8009934" cy="38100"/>
            <a:chOff x="0" y="0"/>
            <a:chExt cx="10679913" cy="50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92238" y="6871697"/>
            <a:ext cx="800993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AI Generates Recommendations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2238" y="7427566"/>
            <a:ext cx="800993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Granite model produces personalized travel content in real time.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85684" y="6238580"/>
            <a:ext cx="567033" cy="354359"/>
            <a:chOff x="0" y="0"/>
            <a:chExt cx="756044" cy="47247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85684" y="6682378"/>
            <a:ext cx="8009934" cy="38100"/>
            <a:chOff x="0" y="0"/>
            <a:chExt cx="10679913" cy="50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285684" y="6871697"/>
            <a:ext cx="800993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Travel Report Displayed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285684" y="7427566"/>
            <a:ext cx="800993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Formatted response is rendered in the interactive dashboard for the user.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836114"/>
            <a:ext cx="9445523" cy="64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Key Features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45476" y="1679381"/>
            <a:ext cx="9455048" cy="1996230"/>
            <a:chOff x="0" y="0"/>
            <a:chExt cx="12606731" cy="26616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06782" cy="2661666"/>
            </a:xfrm>
            <a:custGeom>
              <a:avLst/>
              <a:gdLst/>
              <a:ahLst/>
              <a:cxnLst/>
              <a:rect r="r" b="b" t="t" l="l"/>
              <a:pathLst>
                <a:path h="2661666" w="12606782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2497054" y="0"/>
                  </a:lnTo>
                  <a:cubicBezTo>
                    <a:pt x="12557633" y="0"/>
                    <a:pt x="12606782" y="49149"/>
                    <a:pt x="12606782" y="109728"/>
                  </a:cubicBezTo>
                  <a:lnTo>
                    <a:pt x="12606782" y="2551938"/>
                  </a:lnTo>
                  <a:cubicBezTo>
                    <a:pt x="12606782" y="2612517"/>
                    <a:pt x="12557633" y="2661666"/>
                    <a:pt x="12497054" y="2661666"/>
                  </a:cubicBezTo>
                  <a:lnTo>
                    <a:pt x="109728" y="2661666"/>
                  </a:lnTo>
                  <a:cubicBezTo>
                    <a:pt x="49149" y="2661666"/>
                    <a:pt x="0" y="2612517"/>
                    <a:pt x="0" y="2551938"/>
                  </a:cubicBezTo>
                  <a:close/>
                </a:path>
              </a:pathLst>
            </a:custGeom>
            <a:solidFill>
              <a:srgbClr val="DFECE9"/>
            </a:solidFill>
            <a:ln w="9526" cap="sq">
              <a:solidFill>
                <a:srgbClr val="C5D2C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054578" y="1869434"/>
            <a:ext cx="9036844" cy="3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🗺️</a:t>
            </a:r>
            <a:r>
              <a:rPr lang="en-US" sz="19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 Planning Core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54578" y="2254301"/>
            <a:ext cx="9036844" cy="1212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950" indent="-180975" lvl="1">
              <a:lnSpc>
                <a:spcPts val="2034"/>
              </a:lnSpc>
              <a:buFont typeface="Arial"/>
              <a:buChar char="•"/>
            </a:pPr>
            <a:r>
              <a:rPr lang="en-US" sz="15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Day-wise itinerary</a:t>
            </a:r>
          </a:p>
          <a:p>
            <a:pPr algn="l" marL="361950" indent="-180975" lvl="1">
              <a:lnSpc>
                <a:spcPts val="2034"/>
              </a:lnSpc>
              <a:buFont typeface="Arial"/>
              <a:buChar char="•"/>
            </a:pPr>
            <a:r>
              <a:rPr lang="en-US" sz="15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Tourist attractions</a:t>
            </a:r>
          </a:p>
          <a:p>
            <a:pPr algn="l" marL="361950" indent="-180975" lvl="1">
              <a:lnSpc>
                <a:spcPts val="2034"/>
              </a:lnSpc>
              <a:buFont typeface="Arial"/>
              <a:buChar char="•"/>
            </a:pPr>
            <a:r>
              <a:rPr lang="en-US" sz="15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Best time to visit</a:t>
            </a:r>
          </a:p>
          <a:p>
            <a:pPr algn="l" marL="361950" indent="-180975" lvl="1">
              <a:lnSpc>
                <a:spcPts val="2034"/>
              </a:lnSpc>
              <a:buFont typeface="Arial"/>
              <a:buChar char="•"/>
            </a:pPr>
            <a:r>
              <a:rPr lang="en-US" sz="15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Packing checklist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845476" y="3800027"/>
            <a:ext cx="9455048" cy="1996230"/>
            <a:chOff x="0" y="0"/>
            <a:chExt cx="12606731" cy="26616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06782" cy="2661666"/>
            </a:xfrm>
            <a:custGeom>
              <a:avLst/>
              <a:gdLst/>
              <a:ahLst/>
              <a:cxnLst/>
              <a:rect r="r" b="b" t="t" l="l"/>
              <a:pathLst>
                <a:path h="2661666" w="12606782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2497054" y="0"/>
                  </a:lnTo>
                  <a:cubicBezTo>
                    <a:pt x="12557633" y="0"/>
                    <a:pt x="12606782" y="49149"/>
                    <a:pt x="12606782" y="109728"/>
                  </a:cubicBezTo>
                  <a:lnTo>
                    <a:pt x="12606782" y="2551938"/>
                  </a:lnTo>
                  <a:cubicBezTo>
                    <a:pt x="12606782" y="2612517"/>
                    <a:pt x="12557633" y="2661666"/>
                    <a:pt x="12497054" y="2661666"/>
                  </a:cubicBezTo>
                  <a:lnTo>
                    <a:pt x="109728" y="2661666"/>
                  </a:lnTo>
                  <a:cubicBezTo>
                    <a:pt x="49149" y="2661666"/>
                    <a:pt x="0" y="2612517"/>
                    <a:pt x="0" y="2551938"/>
                  </a:cubicBezTo>
                  <a:close/>
                </a:path>
              </a:pathLst>
            </a:custGeom>
            <a:solidFill>
              <a:srgbClr val="DFECE9"/>
            </a:solidFill>
            <a:ln w="9526" cap="sq">
              <a:solidFill>
                <a:srgbClr val="C5D2C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054578" y="3990080"/>
            <a:ext cx="9036844" cy="3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🏨</a:t>
            </a:r>
            <a:r>
              <a:rPr lang="en-US" sz="19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 Logistics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54578" y="4374956"/>
            <a:ext cx="9036844" cy="1212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950" indent="-180975" lvl="1">
              <a:lnSpc>
                <a:spcPts val="2034"/>
              </a:lnSpc>
              <a:buFont typeface="Arial"/>
              <a:buChar char="•"/>
            </a:pPr>
            <a:r>
              <a:rPr lang="en-US" sz="15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Transportation plan</a:t>
            </a:r>
          </a:p>
          <a:p>
            <a:pPr algn="l" marL="361950" indent="-180975" lvl="1">
              <a:lnSpc>
                <a:spcPts val="2034"/>
              </a:lnSpc>
              <a:buFont typeface="Arial"/>
              <a:buChar char="•"/>
            </a:pPr>
            <a:r>
              <a:rPr lang="en-US" sz="15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Accommodation suggestions</a:t>
            </a:r>
          </a:p>
          <a:p>
            <a:pPr algn="l" marL="361950" indent="-180975" lvl="1">
              <a:lnSpc>
                <a:spcPts val="2034"/>
              </a:lnSpc>
              <a:buFont typeface="Arial"/>
              <a:buChar char="•"/>
            </a:pPr>
            <a:r>
              <a:rPr lang="en-US" sz="15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Budget estimation</a:t>
            </a:r>
          </a:p>
          <a:p>
            <a:pPr algn="l" marL="361950" indent="-180975" lvl="1">
              <a:lnSpc>
                <a:spcPts val="2034"/>
              </a:lnSpc>
              <a:buFont typeface="Arial"/>
              <a:buChar char="•"/>
            </a:pPr>
            <a:r>
              <a:rPr lang="en-US" sz="15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Money-saving tips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45476" y="5920683"/>
            <a:ext cx="9455048" cy="1686220"/>
            <a:chOff x="0" y="0"/>
            <a:chExt cx="12606731" cy="22482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06655" cy="2248281"/>
            </a:xfrm>
            <a:custGeom>
              <a:avLst/>
              <a:gdLst/>
              <a:ahLst/>
              <a:cxnLst/>
              <a:rect r="r" b="b" t="t" l="l"/>
              <a:pathLst>
                <a:path h="2248281" w="12606655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2496927" y="0"/>
                  </a:lnTo>
                  <a:cubicBezTo>
                    <a:pt x="12557506" y="0"/>
                    <a:pt x="12606655" y="49149"/>
                    <a:pt x="12606655" y="109728"/>
                  </a:cubicBezTo>
                  <a:lnTo>
                    <a:pt x="12606655" y="2138553"/>
                  </a:lnTo>
                  <a:cubicBezTo>
                    <a:pt x="12606655" y="2199132"/>
                    <a:pt x="12557506" y="2248281"/>
                    <a:pt x="12496927" y="2248281"/>
                  </a:cubicBezTo>
                  <a:lnTo>
                    <a:pt x="109728" y="2248281"/>
                  </a:lnTo>
                  <a:cubicBezTo>
                    <a:pt x="49149" y="2248281"/>
                    <a:pt x="0" y="2199132"/>
                    <a:pt x="0" y="2138553"/>
                  </a:cubicBezTo>
                  <a:close/>
                </a:path>
              </a:pathLst>
            </a:custGeom>
            <a:solidFill>
              <a:srgbClr val="DFECE9"/>
            </a:solidFill>
            <a:ln w="9526" cap="sq">
              <a:solidFill>
                <a:srgbClr val="C5D2C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8054578" y="6110735"/>
            <a:ext cx="9036844" cy="3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🍽️</a:t>
            </a:r>
            <a:r>
              <a:rPr lang="en-US" sz="19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 Local Experience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54578" y="6495602"/>
            <a:ext cx="9036844" cy="90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950" indent="-180975" lvl="1">
              <a:lnSpc>
                <a:spcPts val="2034"/>
              </a:lnSpc>
              <a:buFont typeface="Arial"/>
              <a:buChar char="•"/>
            </a:pPr>
            <a:r>
              <a:rPr lang="en-US" sz="15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Food recommendations</a:t>
            </a:r>
          </a:p>
          <a:p>
            <a:pPr algn="l" marL="361950" indent="-180975" lvl="1">
              <a:lnSpc>
                <a:spcPts val="2034"/>
              </a:lnSpc>
              <a:buFont typeface="Arial"/>
              <a:buChar char="•"/>
            </a:pPr>
            <a:r>
              <a:rPr lang="en-US" sz="15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Local culture &amp; etiquette</a:t>
            </a:r>
          </a:p>
          <a:p>
            <a:pPr algn="l" marL="361950" indent="-180975" lvl="1">
              <a:lnSpc>
                <a:spcPts val="2034"/>
              </a:lnSpc>
              <a:buFont typeface="Arial"/>
              <a:buChar char="•"/>
            </a:pPr>
            <a:r>
              <a:rPr lang="en-US" sz="15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AI chat assistant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845476" y="7731319"/>
            <a:ext cx="9455048" cy="1686220"/>
            <a:chOff x="0" y="0"/>
            <a:chExt cx="12606731" cy="22482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06655" cy="2248281"/>
            </a:xfrm>
            <a:custGeom>
              <a:avLst/>
              <a:gdLst/>
              <a:ahLst/>
              <a:cxnLst/>
              <a:rect r="r" b="b" t="t" l="l"/>
              <a:pathLst>
                <a:path h="2248281" w="12606655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2496927" y="0"/>
                  </a:lnTo>
                  <a:cubicBezTo>
                    <a:pt x="12557506" y="0"/>
                    <a:pt x="12606655" y="49149"/>
                    <a:pt x="12606655" y="109728"/>
                  </a:cubicBezTo>
                  <a:lnTo>
                    <a:pt x="12606655" y="2138553"/>
                  </a:lnTo>
                  <a:cubicBezTo>
                    <a:pt x="12606655" y="2199132"/>
                    <a:pt x="12557506" y="2248281"/>
                    <a:pt x="12496927" y="2248281"/>
                  </a:cubicBezTo>
                  <a:lnTo>
                    <a:pt x="109728" y="2248281"/>
                  </a:lnTo>
                  <a:cubicBezTo>
                    <a:pt x="49149" y="2248281"/>
                    <a:pt x="0" y="2199132"/>
                    <a:pt x="0" y="2138553"/>
                  </a:cubicBezTo>
                  <a:close/>
                </a:path>
              </a:pathLst>
            </a:custGeom>
            <a:solidFill>
              <a:srgbClr val="DFECE9"/>
            </a:solidFill>
            <a:ln w="9526" cap="sq">
              <a:solidFill>
                <a:srgbClr val="C5D2CF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054578" y="7921381"/>
            <a:ext cx="9036844" cy="3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🛡️</a:t>
            </a:r>
            <a:r>
              <a:rPr lang="en-US" sz="19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 Safety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54578" y="8306248"/>
            <a:ext cx="9036844" cy="90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950" indent="-180975" lvl="1">
              <a:lnSpc>
                <a:spcPts val="2034"/>
              </a:lnSpc>
              <a:buFont typeface="Arial"/>
              <a:buChar char="•"/>
            </a:pPr>
            <a:r>
              <a:rPr lang="en-US" sz="15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Safety tips</a:t>
            </a:r>
          </a:p>
          <a:p>
            <a:pPr algn="l" marL="361950" indent="-180975" lvl="1">
              <a:lnSpc>
                <a:spcPts val="2034"/>
              </a:lnSpc>
              <a:buFont typeface="Arial"/>
              <a:buChar char="•"/>
            </a:pPr>
            <a:r>
              <a:rPr lang="en-US" sz="15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Emergency contacts</a:t>
            </a:r>
          </a:p>
          <a:p>
            <a:pPr algn="l" marL="361950" indent="-180975" lvl="1">
              <a:lnSpc>
                <a:spcPts val="2034"/>
              </a:lnSpc>
              <a:buFont typeface="Arial"/>
              <a:buChar char="•"/>
            </a:pPr>
            <a:r>
              <a:rPr lang="en-US" sz="15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Executive summary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89397"/>
            <a:ext cx="16303523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Results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751239"/>
            <a:ext cx="10385374" cy="5884964"/>
            <a:chOff x="0" y="0"/>
            <a:chExt cx="13847166" cy="784661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47190" cy="7846568"/>
            </a:xfrm>
            <a:custGeom>
              <a:avLst/>
              <a:gdLst/>
              <a:ahLst/>
              <a:cxnLst/>
              <a:rect r="r" b="b" t="t" l="l"/>
              <a:pathLst>
                <a:path h="7846568" w="13847190">
                  <a:moveTo>
                    <a:pt x="0" y="0"/>
                  </a:moveTo>
                  <a:lnTo>
                    <a:pt x="13847190" y="0"/>
                  </a:lnTo>
                  <a:lnTo>
                    <a:pt x="13847190" y="7846568"/>
                  </a:lnTo>
                  <a:lnTo>
                    <a:pt x="0" y="784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" t="0" r="-17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992270" y="2226021"/>
            <a:ext cx="5312864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What TravelPlanner Pro Delivers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2085291" y="2889056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6"/>
                </a:lnTo>
                <a:lnTo>
                  <a:pt x="0" y="372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500" t="0" r="-750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798323" y="2819695"/>
            <a:ext cx="4506811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b="true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Instant personalization</a:t>
            </a:r>
            <a:r>
              <a:rPr lang="en-US" sz="19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— complete itineraries generated within seconds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2085291" y="4079672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5"/>
                </a:lnTo>
                <a:lnTo>
                  <a:pt x="0" y="3720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500" t="0" r="-750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98323" y="4010320"/>
            <a:ext cx="4506811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b="true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Accurate budget estimation</a:t>
            </a:r>
            <a:r>
              <a:rPr lang="en-US" sz="19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— itemized costs for informed decisions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2085291" y="5270306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6"/>
                </a:lnTo>
                <a:lnTo>
                  <a:pt x="0" y="372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500" t="0" r="-750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798323" y="5200945"/>
            <a:ext cx="4506811" cy="117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b="true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Organized recommendations</a:t>
            </a:r>
            <a:r>
              <a:rPr lang="en-US" sz="19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— structured, easy-to-follow travel reports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2085291" y="6820643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5"/>
                </a:lnTo>
                <a:lnTo>
                  <a:pt x="0" y="3720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500" t="0" r="-750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798323" y="6751291"/>
            <a:ext cx="4506811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b="true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Intuitive interface</a:t>
            </a:r>
            <a:r>
              <a:rPr lang="en-US" sz="19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— clean, responsive design for all users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12085291" y="8011268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6"/>
                </a:lnTo>
                <a:lnTo>
                  <a:pt x="0" y="372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500" t="0" r="-750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798323" y="7941916"/>
            <a:ext cx="4506811" cy="117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b="true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AI-powered decision support</a:t>
            </a:r>
            <a:r>
              <a:rPr lang="en-US" sz="19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— intelligent suggestions backed by Granite LLM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39718"/>
            <a:ext cx="1630352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Future Enhancements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664153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TravelPlanner Pro is built to scale. The following enhancements are planned for upcoming versions.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4522441"/>
            <a:ext cx="5245446" cy="3467700"/>
          </a:xfrm>
          <a:custGeom>
            <a:avLst/>
            <a:gdLst/>
            <a:ahLst/>
            <a:cxnLst/>
            <a:rect r="r" b="b" t="t" l="l"/>
            <a:pathLst>
              <a:path h="3467700" w="5245446">
                <a:moveTo>
                  <a:pt x="0" y="0"/>
                </a:moveTo>
                <a:lnTo>
                  <a:pt x="5245446" y="0"/>
                </a:lnTo>
                <a:lnTo>
                  <a:pt x="5245446" y="3467701"/>
                </a:lnTo>
                <a:lnTo>
                  <a:pt x="0" y="34677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01" r="0" b="-101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3402359" y="4768301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5" y="0"/>
                </a:lnTo>
                <a:lnTo>
                  <a:pt x="425205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555" t="0" r="-5555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13850" y="5666032"/>
            <a:ext cx="460221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Live Integrations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3850" y="6221911"/>
            <a:ext cx="460221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Weather APIs, Google Maps, Flight &amp; Hotel Booking APIs for real-time data.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6521206" y="4522441"/>
            <a:ext cx="5245446" cy="3467700"/>
          </a:xfrm>
          <a:custGeom>
            <a:avLst/>
            <a:gdLst/>
            <a:ahLst/>
            <a:cxnLst/>
            <a:rect r="r" b="b" t="t" l="l"/>
            <a:pathLst>
              <a:path h="3467700" w="5245446">
                <a:moveTo>
                  <a:pt x="0" y="0"/>
                </a:moveTo>
                <a:lnTo>
                  <a:pt x="5245446" y="0"/>
                </a:lnTo>
                <a:lnTo>
                  <a:pt x="5245446" y="3467701"/>
                </a:lnTo>
                <a:lnTo>
                  <a:pt x="0" y="34677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01" r="0" b="-101"/>
            </a:stretch>
          </a:blipFill>
        </p:spPr>
      </p:sp>
      <p:sp>
        <p:nvSpPr>
          <p:cNvPr name="Freeform 13" id="13" descr="preencoded.png"/>
          <p:cNvSpPr/>
          <p:nvPr/>
        </p:nvSpPr>
        <p:spPr>
          <a:xfrm flipH="false" flipV="false" rot="0">
            <a:off x="8931326" y="4768301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5" y="0"/>
                </a:lnTo>
                <a:lnTo>
                  <a:pt x="425205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2221" r="0" b="-32221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842817" y="5666032"/>
            <a:ext cx="460221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Voice &amp; Language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42817" y="6221911"/>
            <a:ext cx="460221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Voice assistant support and multi-language capabilities for global users.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2050163" y="4522441"/>
            <a:ext cx="5245446" cy="3467700"/>
          </a:xfrm>
          <a:custGeom>
            <a:avLst/>
            <a:gdLst/>
            <a:ahLst/>
            <a:cxnLst/>
            <a:rect r="r" b="b" t="t" l="l"/>
            <a:pathLst>
              <a:path h="3467700" w="5245446">
                <a:moveTo>
                  <a:pt x="0" y="0"/>
                </a:moveTo>
                <a:lnTo>
                  <a:pt x="5245446" y="0"/>
                </a:lnTo>
                <a:lnTo>
                  <a:pt x="5245446" y="3467701"/>
                </a:lnTo>
                <a:lnTo>
                  <a:pt x="0" y="34677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01" r="0" b="-101"/>
            </a:stretch>
          </a:blipFill>
        </p:spPr>
      </p:sp>
      <p:sp>
        <p:nvSpPr>
          <p:cNvPr name="Freeform 17" id="17" descr="preencoded.png"/>
          <p:cNvSpPr/>
          <p:nvPr/>
        </p:nvSpPr>
        <p:spPr>
          <a:xfrm flipH="false" flipV="false" rot="0">
            <a:off x="14460293" y="4768301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371784" y="5666032"/>
            <a:ext cx="460221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Export &amp; History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71784" y="6221911"/>
            <a:ext cx="460221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PDF export of travel reports and user login history for saved itineraries.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36114"/>
            <a:ext cx="1630352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260549"/>
            <a:ext cx="1630352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TravelPlanner Pro demonstrates how </a:t>
            </a:r>
            <a:r>
              <a:rPr lang="en-US" sz="2200" b="true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IBM watsonx.ai</a:t>
            </a: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can transform a fragmented, time-consuming process into a seamless, intelligent experience. By generating personalized, comprehensive itineraries in seconds, it reduces planning effort and elevates the overall travel journey through the power of Generative AI.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4021331"/>
            <a:ext cx="16313048" cy="2115893"/>
            <a:chOff x="0" y="0"/>
            <a:chExt cx="21750731" cy="28211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50782" cy="2821178"/>
            </a:xfrm>
            <a:custGeom>
              <a:avLst/>
              <a:gdLst/>
              <a:ahLst/>
              <a:cxnLst/>
              <a:rect r="r" b="b" t="t" l="l"/>
              <a:pathLst>
                <a:path h="2821178" w="21750782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21591270" y="0"/>
                  </a:lnTo>
                  <a:cubicBezTo>
                    <a:pt x="21679408" y="0"/>
                    <a:pt x="21750782" y="71374"/>
                    <a:pt x="21750782" y="159512"/>
                  </a:cubicBezTo>
                  <a:lnTo>
                    <a:pt x="21750782" y="2661666"/>
                  </a:lnTo>
                  <a:cubicBezTo>
                    <a:pt x="21750782" y="2749804"/>
                    <a:pt x="21679408" y="2821178"/>
                    <a:pt x="21591270" y="2821178"/>
                  </a:cubicBezTo>
                  <a:lnTo>
                    <a:pt x="159512" y="2821178"/>
                  </a:lnTo>
                  <a:cubicBezTo>
                    <a:pt x="71374" y="2821178"/>
                    <a:pt x="0" y="2749804"/>
                    <a:pt x="0" y="2661666"/>
                  </a:cubicBezTo>
                  <a:close/>
                </a:path>
              </a:pathLst>
            </a:custGeom>
            <a:solidFill>
              <a:srgbClr val="DFECE9"/>
            </a:solidFill>
            <a:ln w="9526" cap="sq">
              <a:solidFill>
                <a:srgbClr val="C5D2C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01763" y="4035628"/>
            <a:ext cx="5428059" cy="2087318"/>
            <a:chOff x="0" y="0"/>
            <a:chExt cx="7237412" cy="27830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37476" cy="2783078"/>
            </a:xfrm>
            <a:custGeom>
              <a:avLst/>
              <a:gdLst/>
              <a:ahLst/>
              <a:cxnLst/>
              <a:rect r="r" b="b" t="t" l="l"/>
              <a:pathLst>
                <a:path h="2783078" w="7237476">
                  <a:moveTo>
                    <a:pt x="0" y="0"/>
                  </a:moveTo>
                  <a:lnTo>
                    <a:pt x="7237476" y="0"/>
                  </a:lnTo>
                  <a:lnTo>
                    <a:pt x="7237476" y="2783078"/>
                  </a:lnTo>
                  <a:lnTo>
                    <a:pt x="0" y="2783078"/>
                  </a:lnTo>
                  <a:close/>
                </a:path>
              </a:pathLst>
            </a:custGeom>
            <a:solidFill>
              <a:srgbClr val="DFECE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5284" y="4290565"/>
            <a:ext cx="486102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IBM watsonx.ai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5284" y="4846434"/>
            <a:ext cx="486102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Enterprise-grade AI at the core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29823" y="4035628"/>
            <a:ext cx="5428212" cy="2087318"/>
            <a:chOff x="0" y="0"/>
            <a:chExt cx="7237616" cy="27830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37603" cy="2783078"/>
            </a:xfrm>
            <a:custGeom>
              <a:avLst/>
              <a:gdLst/>
              <a:ahLst/>
              <a:cxnLst/>
              <a:rect r="r" b="b" t="t" l="l"/>
              <a:pathLst>
                <a:path h="2783078" w="7237603">
                  <a:moveTo>
                    <a:pt x="0" y="0"/>
                  </a:moveTo>
                  <a:lnTo>
                    <a:pt x="7237603" y="0"/>
                  </a:lnTo>
                  <a:lnTo>
                    <a:pt x="7237603" y="2783078"/>
                  </a:lnTo>
                  <a:lnTo>
                    <a:pt x="0" y="2783078"/>
                  </a:lnTo>
                  <a:close/>
                </a:path>
              </a:pathLst>
            </a:custGeom>
            <a:solidFill>
              <a:srgbClr val="DFECE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29823" y="4035628"/>
            <a:ext cx="38100" cy="2087318"/>
            <a:chOff x="0" y="0"/>
            <a:chExt cx="50800" cy="27830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" cy="2783078"/>
            </a:xfrm>
            <a:custGeom>
              <a:avLst/>
              <a:gdLst/>
              <a:ahLst/>
              <a:cxnLst/>
              <a:rect r="r" b="b" t="t" l="l"/>
              <a:pathLst>
                <a:path h="278307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757678"/>
                  </a:lnTo>
                  <a:cubicBezTo>
                    <a:pt x="50800" y="2771648"/>
                    <a:pt x="39370" y="2783078"/>
                    <a:pt x="25400" y="2783078"/>
                  </a:cubicBezTo>
                  <a:cubicBezTo>
                    <a:pt x="11430" y="2783078"/>
                    <a:pt x="0" y="2771648"/>
                    <a:pt x="0" y="2757678"/>
                  </a:cubicBezTo>
                  <a:close/>
                </a:path>
              </a:pathLst>
            </a:custGeom>
            <a:solidFill>
              <a:srgbClr val="C5D2C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713344" y="4290565"/>
            <a:ext cx="4861169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Granite LLM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13344" y="4846434"/>
            <a:ext cx="48611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Intelligent, context-aware generation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858034" y="4035628"/>
            <a:ext cx="5428212" cy="2087318"/>
            <a:chOff x="0" y="0"/>
            <a:chExt cx="7237616" cy="27830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37603" cy="2783078"/>
            </a:xfrm>
            <a:custGeom>
              <a:avLst/>
              <a:gdLst/>
              <a:ahLst/>
              <a:cxnLst/>
              <a:rect r="r" b="b" t="t" l="l"/>
              <a:pathLst>
                <a:path h="2783078" w="7237603">
                  <a:moveTo>
                    <a:pt x="0" y="0"/>
                  </a:moveTo>
                  <a:lnTo>
                    <a:pt x="7237603" y="0"/>
                  </a:lnTo>
                  <a:lnTo>
                    <a:pt x="7237603" y="2783078"/>
                  </a:lnTo>
                  <a:lnTo>
                    <a:pt x="0" y="2783078"/>
                  </a:lnTo>
                  <a:close/>
                </a:path>
              </a:pathLst>
            </a:custGeom>
            <a:solidFill>
              <a:srgbClr val="DFECE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58034" y="4035628"/>
            <a:ext cx="38100" cy="2087318"/>
            <a:chOff x="0" y="0"/>
            <a:chExt cx="50800" cy="27830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800" cy="2783078"/>
            </a:xfrm>
            <a:custGeom>
              <a:avLst/>
              <a:gdLst/>
              <a:ahLst/>
              <a:cxnLst/>
              <a:rect r="r" b="b" t="t" l="l"/>
              <a:pathLst>
                <a:path h="278307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757678"/>
                  </a:lnTo>
                  <a:cubicBezTo>
                    <a:pt x="50800" y="2771648"/>
                    <a:pt x="39370" y="2783078"/>
                    <a:pt x="25400" y="2783078"/>
                  </a:cubicBezTo>
                  <a:cubicBezTo>
                    <a:pt x="11430" y="2783078"/>
                    <a:pt x="0" y="2771648"/>
                    <a:pt x="0" y="2757678"/>
                  </a:cubicBezTo>
                  <a:close/>
                </a:path>
              </a:pathLst>
            </a:custGeom>
            <a:solidFill>
              <a:srgbClr val="C5D2C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141546" y="4290565"/>
            <a:ext cx="4861169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TravelPlanner Pro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41546" y="4846434"/>
            <a:ext cx="4861169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Your complete AI travel companion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2238" y="6522244"/>
            <a:ext cx="16303523" cy="38100"/>
            <a:chOff x="0" y="0"/>
            <a:chExt cx="21738031" cy="50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738082" cy="50800"/>
            </a:xfrm>
            <a:custGeom>
              <a:avLst/>
              <a:gdLst/>
              <a:ahLst/>
              <a:cxnLst/>
              <a:rect r="r" b="b" t="t" l="l"/>
              <a:pathLst>
                <a:path h="50800" w="21738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2C3249">
                <a:alpha val="24706"/>
              </a:srgbClr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92238" y="7018287"/>
            <a:ext cx="16303523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2238" y="8104584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Questions &amp; Answers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87476" y="8958110"/>
            <a:ext cx="1771202" cy="440236"/>
            <a:chOff x="0" y="0"/>
            <a:chExt cx="2361603" cy="5869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61565" cy="586994"/>
            </a:xfrm>
            <a:custGeom>
              <a:avLst/>
              <a:gdLst/>
              <a:ahLst/>
              <a:cxnLst/>
              <a:rect r="r" b="b" t="t" l="l"/>
              <a:pathLst>
                <a:path h="586994" w="2361565">
                  <a:moveTo>
                    <a:pt x="0" y="129794"/>
                  </a:moveTo>
                  <a:cubicBezTo>
                    <a:pt x="0" y="58166"/>
                    <a:pt x="58166" y="0"/>
                    <a:pt x="129794" y="0"/>
                  </a:cubicBezTo>
                  <a:lnTo>
                    <a:pt x="2231771" y="0"/>
                  </a:lnTo>
                  <a:cubicBezTo>
                    <a:pt x="2303526" y="0"/>
                    <a:pt x="2361565" y="58166"/>
                    <a:pt x="2361565" y="129794"/>
                  </a:cubicBezTo>
                  <a:lnTo>
                    <a:pt x="2361565" y="457200"/>
                  </a:lnTo>
                  <a:cubicBezTo>
                    <a:pt x="2361565" y="528955"/>
                    <a:pt x="2303399" y="586994"/>
                    <a:pt x="2231771" y="586994"/>
                  </a:cubicBezTo>
                  <a:lnTo>
                    <a:pt x="129794" y="586994"/>
                  </a:lnTo>
                  <a:cubicBezTo>
                    <a:pt x="58166" y="586994"/>
                    <a:pt x="0" y="528828"/>
                    <a:pt x="0" y="45720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93" r="-1" b="-28391"/>
              </a:stretch>
            </a:blipFill>
            <a:ln w="9526" cap="sq">
              <a:solidFill>
                <a:srgbClr val="437066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162345" y="9057380"/>
            <a:ext cx="2335854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37066"/>
                </a:solidFill>
                <a:latin typeface="Martel Sans"/>
                <a:ea typeface="Martel Sans"/>
                <a:cs typeface="Martel Sans"/>
                <a:sym typeface="Martel Sans"/>
              </a:rPr>
              <a:t>VARUN RAJ 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2890838" y="8958110"/>
            <a:ext cx="3275409" cy="440236"/>
            <a:chOff x="0" y="0"/>
            <a:chExt cx="4367212" cy="5869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67149" cy="586994"/>
            </a:xfrm>
            <a:custGeom>
              <a:avLst/>
              <a:gdLst/>
              <a:ahLst/>
              <a:cxnLst/>
              <a:rect r="r" b="b" t="t" l="l"/>
              <a:pathLst>
                <a:path h="586994" w="4367149">
                  <a:moveTo>
                    <a:pt x="0" y="129794"/>
                  </a:moveTo>
                  <a:cubicBezTo>
                    <a:pt x="0" y="58166"/>
                    <a:pt x="58166" y="0"/>
                    <a:pt x="129794" y="0"/>
                  </a:cubicBezTo>
                  <a:lnTo>
                    <a:pt x="4237355" y="0"/>
                  </a:lnTo>
                  <a:cubicBezTo>
                    <a:pt x="4309110" y="0"/>
                    <a:pt x="4367149" y="58166"/>
                    <a:pt x="4367149" y="129794"/>
                  </a:cubicBezTo>
                  <a:lnTo>
                    <a:pt x="4367149" y="457200"/>
                  </a:lnTo>
                  <a:cubicBezTo>
                    <a:pt x="4367149" y="528955"/>
                    <a:pt x="4308983" y="586994"/>
                    <a:pt x="4237355" y="586994"/>
                  </a:cubicBezTo>
                  <a:lnTo>
                    <a:pt x="129794" y="586994"/>
                  </a:lnTo>
                  <a:cubicBezTo>
                    <a:pt x="58166" y="586994"/>
                    <a:pt x="0" y="528828"/>
                    <a:pt x="0" y="45720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969" r="-1" b="-94966"/>
              </a:stretch>
            </a:blipFill>
            <a:ln w="9526" cap="sq">
              <a:solidFill>
                <a:srgbClr val="437066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3065707" y="9057380"/>
            <a:ext cx="3840061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37066"/>
                </a:solidFill>
                <a:latin typeface="Martel Sans"/>
                <a:ea typeface="Martel Sans"/>
                <a:cs typeface="Martel Sans"/>
                <a:sym typeface="Martel Sans"/>
              </a:rPr>
              <a:t>IBM SKILLSBUILD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DAHPSsXUayQ</dc:identifier>
  <dcterms:modified xsi:type="dcterms:W3CDTF">2011-08-01T06:04:30Z</dcterms:modified>
  <cp:revision>1</cp:revision>
  <dc:title>AI-Powered-Intelligent-Travel-Planning.pptx</dc:title>
</cp:coreProperties>
</file>